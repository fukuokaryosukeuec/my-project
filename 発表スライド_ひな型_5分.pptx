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Calibri"/>
              </a:rPr>
              <a:t>得られた配置候補（10案）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パレート解</c:v>
                </c:pt>
              </c:strCache>
            </c:strRef>
          </c:tx>
          <c:spPr>
            <a:solidFill>
              <a:srgbClr val="F96167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103.8</c:v>
                  </c:pt>
                  <c:pt idx="1">
                    <c:v>104.1</c:v>
                  </c:pt>
                  <c:pt idx="2">
                    <c:v>104.4</c:v>
                  </c:pt>
                  <c:pt idx="3">
                    <c:v>104.6</c:v>
                  </c:pt>
                  <c:pt idx="4">
                    <c:v>105.3</c:v>
                  </c:pt>
                  <c:pt idx="5">
                    <c:v>106.4</c:v>
                  </c:pt>
                  <c:pt idx="6">
                    <c:v>106.7</c:v>
                  </c:pt>
                  <c:pt idx="7">
                    <c:v>110.0</c:v>
                  </c:pt>
                  <c:pt idx="8">
                    <c:v>111.2</c:v>
                  </c:pt>
                  <c:pt idx="9">
                    <c:v>111.8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0.716</c:v>
                </c:pt>
                <c:pt idx="1">
                  <c:v>0.714</c:v>
                </c:pt>
                <c:pt idx="2">
                  <c:v>0.701</c:v>
                </c:pt>
                <c:pt idx="3">
                  <c:v>0.643</c:v>
                </c:pt>
                <c:pt idx="4">
                  <c:v>0.634</c:v>
                </c:pt>
                <c:pt idx="5">
                  <c:v>0.613</c:v>
                </c:pt>
                <c:pt idx="6">
                  <c:v>0.596</c:v>
                </c:pt>
                <c:pt idx="7">
                  <c:v>0.593</c:v>
                </c:pt>
                <c:pt idx="8">
                  <c:v>0.591</c:v>
                </c:pt>
                <c:pt idx="9">
                  <c:v>0.583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歩く負担 f_move（秒／人）← 小さいほど良い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55"/>
        </c:scaling>
        <c:delete val="0"/>
        <c:axPos val="l"/>
        <c:majorGridlines>
          <c:spPr>
            <a:ln w="12700" cap="flat">
              <a:solidFill>
                <a:srgbClr val="E6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混雑度 f_congestion ← 小さいほど良い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【0:00-0:15 / 15秒】
・タイトルと自分の名前を言うだけ。長く話さない。
・「イベント会場のブースをどこに置くか、を計算で決める研究です」の一言で入る。
※タイトル・発表者名・日付を差し替えること。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【0:15-1:00 / 45秒】
話す順:
1) 「イベント会場では、どのブースをどこに置くかで混み方がまったく変わります」
2) 「でも今の決め方は担当者の経験と去年の図面。事前に良し悪しを確かめる方法がない」
3) 「しかも本番は一度きり。当日混んでも動かせない」
→ 右のカードで結ぶ:「なので、本番前にパソコンの中で何百通りも試せる仕組みを作りました」
※非専門家向けなので、ここでは数式・手法名を一切出さない。
※実会場の写真か概略図を1枚入れると理解が早い（下の赤字メモ参照）。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【1:00-1:50 / 50秒】
このスライドがシステム説明の本体。①〜④を指しながらテンポよく。
1) 「まず配置案をひとつ作ります。どのブースをどこに置くか、というだけのものです」
2) 「そこに仮想の来場者を200人流します。彼らは興味のあるブースへ向かい、混んでいれば避け、
    行列に並び、待ちすぎれば諦めて帰る。実際の人の動きを1秒刻みで再現しています」
3) 「歩き終わったら、その配置に2つの点数をつけます（次スライド）」
4) 「点数の良かった配置どうしを掛け合わせて次の案を作る。これを何十世代も繰り返す」
締め:「専門用語で言うとNSGA-IIという多目的最適化ですが、要は "良い配置だけを生き残らせる" 仕組みです」
※手法名は1回言うだけ。深入りしない。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【1:50-2:20 / 30秒】
・「点数は2つあります。ひとつは "歩く負担"、来場者が実際に歩いた時間。もうひとつは "混雑度"、
  会場を1メートル四方に区切って、どのマスにどれだけ人が溜まったか」
・「どちらも小さいほど良い」
・下の帯が一番大事:「ところがこの2つは同時には良くなりません。人気ブースを近くに固めれば
  歩く距離は減りますが、そこに人が集中する。逆もまた然り」
・「だからシステムは1つの答えを出すのではなく、両立の限界にある候補をまとめて出します」
  → 次のパレート図の伏線になる。
※数式は板書しない。言葉だけで十分。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【2:20-3:00 / 40秒】
・スクリーンショットを指しながら。「これが実際の画面です」
1) 「左側で条件を入れます。会場の大きさ、ブースの一覧、来場者の人数。ブースは表になっていて
    行を足したり消したりできます」
2) 「入れ終わったら "最適化を開始" を押すだけ。あとは待つ」
3) 「終わると結果が図で出ます。グラフの点をクリックすると、その配置の図と混雑の色分け、
    来場者が動くアニメーションまで見られます。2案を並べて比較もできます」
・締め:「プログラムを書かなくても、主催者の方がご自身で条件を変えて試せる形にしています」
※できれば実演動画（GIF）に差し替えると強い。時間がないので静止画1枚でも可。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【3:00-3:45 / 45秒】
・「これが計算結果です。点ひとつひとつが、ひとつの配置案です」
・「横が歩く負担、縦が混雑度。どちらも左下に行くほど良い」
・「見てのとおり、左下の隅に集まった1点、というものは出てきません。右下は混雑が少ない代わりに
  よく歩く。左上はその逆」
・「この10案はどれも "他の案に負けていない" 案です。片方を良くしようとすると必ずもう片方が悪くなる。
  ここが限界線です」
・締め:「なので最終的にどれを採るかは、主催者が "今回は混雑を抑えたい" などの方針で選ぶ形になります」
※グラフは折れ線ではなく点で見せている。線に見えたら「線に意味はなく、点の並びです」と補足。
※本番前に実行データを差し替えること（現在は pop=16 / gen=20 の試行結果）。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【3:45-4:15 / 30秒】
・「候補の中から両端と真ん中の3つを取り出して並べたのがこれです」
・左:「歩く負担を最優先した案。1人あたり約104秒で回れるが、混雑度は0.72と一番高い」
・右:「逆に混雑を最優先した案。人だまりは最小だが、歩く時間が約8％増える」
・中央:「その中間。実際に採用するならまずここが候補になります」
・「ほかにも、目当てのブースを体験できた人の割合が約7割、平均の待ち時間が20〜30秒、といった
  副次的な指標も同時に出せます」
※パーセントや秒数は本番データに差し替えること。
※3案のレイアウト図を貼れると「見た目が違う」ことが一目で伝わる。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【4:15-4:50 / 35秒】
・「最後に課題と今後です」
課題（左）を3つ、それぞれ一言ずつ:
1) 「一番大きいのは、来場者の歩き方が仮定の数字だということ。実データで合わせ込む必要があります」
2) 「計算時間。1案1秒なので、会場が大きくなると世代を重ねるのに時間がかかる」
3) 「行列への並び方など、簡略化している挙動が残っています」
展望（右）:
1) 「実際のイベントで使って、予測と現実を突き合わせたい」
2) 「評価軸を増やしたい。混雑と歩行だけでなく、売上や避難のしやすさも」
3) 「高速化して、もっと大きな会場を扱えるようにしたい」
※正直に課題を言うほど信頼される。言い訳しない。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【4:50-5:00 / 10秒】
・4点を読み上げず、「以上、勘で決めていた配置を、事前に試して選べるようにした、という話でした」で締める。
・時間が押していたら「まとめは資料をご覧ください」で1行だけ言って終わる。
【質疑で来そうな質問】
Q「本当にその通りに人は動くのか」→ 現状は仮定値。実データでの検証が最優先課題、と正直に答える。
Q「どのくらい時間がかかるのか」→ 今回の例で約13分（1案1秒×16個体×20世代、4並列）。
Q「うちの会場でも使えるのか」→ 会場の形とブース一覧を入れれば動く。画面から設定できる。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44584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00616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56648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68712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24744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0776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36808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292840" y="105156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732520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988552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244584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00616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756648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12680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68712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24744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80776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36808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30759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732520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88552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244584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00616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756648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012680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268712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524744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780776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036808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292840" y="156362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732520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988552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244584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500616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756648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12680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268712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524744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780776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036808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292840" y="181965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732520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988552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244584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500616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756648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12680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268712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524744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780776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036808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292840" y="207568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32520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88552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44584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500616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756648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012680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268712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524744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780776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1036808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292840" y="233172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732520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988552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244584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500616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756648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012680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0268712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524744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0780776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1036808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1292840" y="258775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732520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988552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244584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500616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756648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0012680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0268712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524744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0780776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1036808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1292840" y="284378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732520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988552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9244584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9500616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9756648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0012680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0268712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0524744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0780776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11036808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1292840" y="309981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732520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988552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244584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9500616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9756648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0012680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68712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0524744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0780776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36808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1292840" y="335584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8732520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8988552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9244584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9500616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9756648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10012680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10268712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0524744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0780776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11036808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1292840" y="361188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8732520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8988552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9244584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9500616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9756648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12680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0268712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10524744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0780776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1036808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1292840" y="386791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8732520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8988552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9244584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9500616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9756648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10012680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10268712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10524744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10780776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11036808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11292840" y="412394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8732520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8988552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9244584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9500616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9756648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10012680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10268712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10524744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10780776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11036808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11292840" y="437997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8732520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8988552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9244584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9500616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9756648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10012680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10268712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10524744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10780776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11036808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11292840" y="463600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7" name="Text 165"/>
          <p:cNvSpPr/>
          <p:nvPr/>
        </p:nvSpPr>
        <p:spPr>
          <a:xfrm>
            <a:off x="640080" y="2057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イベント会場ブース配置最適化シミュレーション</a:t>
            </a:r>
            <a:endParaRPr lang="en-US" sz="4000" dirty="0"/>
          </a:p>
        </p:txBody>
      </p:sp>
      <p:sp>
        <p:nvSpPr>
          <p:cNvPr id="168" name="Text 166"/>
          <p:cNvSpPr/>
          <p:nvPr/>
        </p:nvSpPr>
        <p:spPr>
          <a:xfrm>
            <a:off x="640080" y="35204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来場者の動きを再現して、混まない・歩かせない配置を自動で探す</a:t>
            </a:r>
            <a:endParaRPr lang="en-US" sz="1700" dirty="0"/>
          </a:p>
        </p:txBody>
      </p:sp>
      <p:sp>
        <p:nvSpPr>
          <p:cNvPr id="169" name="Text 167"/>
          <p:cNvSpPr/>
          <p:nvPr/>
        </p:nvSpPr>
        <p:spPr>
          <a:xfrm>
            <a:off x="64008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〈発表者名〉／〈所属〉　2026年◯月◯日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ブースの置き方は「勘」で決まっている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53312" y="18288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置き方で混雑は大きく変わる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3312" y="21945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人気ブースが隣り合うと、その周辺だけ人が滞留して通路が詰まる。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3312" y="29992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決め方は経験と前例に頼っている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53312" y="336499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担当者の勘・去年の図面がベース。良し悪しを事前に確かめる手段がない。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2452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53312" y="416966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本番は一度きり、やり直せない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53312" y="453542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当日に混雑が起きても配置は変えられない。事前に試せる仕組みが要る。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783080"/>
            <a:ext cx="3913632" cy="3337560"/>
          </a:xfrm>
          <a:prstGeom prst="roundRect">
            <a:avLst>
              <a:gd name="adj" fmla="val 2192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0956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そこで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09560" y="23774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本番前に</a:t>
            </a:r>
            <a:endParaRPr lang="en-US" sz="2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パソコンの中で</a:t>
            </a:r>
            <a:endParaRPr lang="en-US" sz="2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何百通りも試す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909560" y="3977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来場者の歩行をシミュレーションし、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混雑と歩く量の両方が小さい配置を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自動で探索する。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図を入れるなら：実会場の概略図（data/会場概略図/venue_abst.jpg）を右下に小さく置くと説得力が出る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2-1. SYSTEM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仮想の来場者を歩かせて、配置に点数をつける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84832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配置案をつくる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035808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会場のどこにどのブースを置くか。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1案 = 全ブースの座標と向き。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2880360"/>
            <a:ext cx="201168" cy="219456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3502152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084832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67004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来場者を歩かせる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703320" y="3035808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200人の仮想来場者が、興味と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混み具合を見ながら移動・行列・退場。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35624" y="2880360"/>
            <a:ext cx="201168" cy="219456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64224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2084832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267004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2つの点数をつける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65392" y="3035808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「歩く負担」と「混雑」を数値化。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1案あたり約1秒で採点。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97696" y="2880360"/>
            <a:ext cx="201168" cy="219456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9226296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27464" y="2084832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9427464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27464" y="267004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良い案を残して改良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427464" y="3035808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点数の良い案を掛け合わせて次の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世代へ。これを何十世代も繰り返す。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370832"/>
            <a:ext cx="10908792" cy="402336"/>
          </a:xfrm>
          <a:prstGeom prst="roundRect">
            <a:avLst>
              <a:gd name="adj" fmla="val 22727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37083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の結果を ① に戻して繰り返す ＝ 多目的進化計算（NSGA-II）。1つの正解ではなく「優れた配置の候補群」が出てくる。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4983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図を入れるなら：①→②→③→④→① の循環図、または来場者アニメーションGIFの1コマ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2-1.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「良い配置」を2つのものさしで測る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歩く負担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8760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f_move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来場者1人あたりの実際に歩いた時間（秒）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行列の待ち時間や足止めは含めない（純粋な移動量だけを見る）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小さいほど良い＝短い距離で目的のブースに着ける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1112" y="182880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85432" y="208483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8854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79792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混雑度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79792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f_congestion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31152" y="288036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会場を1m四方に区切り、各マスの人口密度を集計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特に混んだ場所・時間帯が重く効く指標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小さいほど良い＝人だまりができにくい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736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この2つは同時には良くならない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51023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人気ブースを固めれば歩く距離は減るが、そこに人が集中する。散らせば混雑は減るが、歩く量が増える。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どちらを優先するかは主催者が決めることなので、システムは「両立の限界にある案」をまとめて提示する。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2-2. 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専門知識なしで、ブラウザから動かせる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3977640"/>
          </a:xfrm>
          <a:prstGeom prst="roundRect">
            <a:avLst>
              <a:gd name="adj" fmla="val 1379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32689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ここにUIのスクリーンショットを貼る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7261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推奨：サイドバー（入力パラメータ）＋メイン（パレート図・配置図）が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1枚に写ったフル画面。real_world_problem/ui/app.py を streamlit run で起動して撮影。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71232" y="182880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57123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18105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条件を入力する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8160" y="21396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左のサイドバーで会場サイズ・ブース一覧（表で行を追加／削除）・来場者数・世代数を設定。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71232" y="312724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57123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ボタンひとつで実行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343814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「最適化を開始」を押すと裏で計算が走り、世代が進むたびに進捗が更新される。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71232" y="4425696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7571232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0" y="4407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結果を触って確かめる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47365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パレート図の点をクリックすると、その配置のレイアウト図・混雑ヒートマップ・来場者アニメーションが表示される。2案の並列比較も可能。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71232" y="5650992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56509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設定はすべて画面／YAMLから変更。コードは触らない。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1つの正解ではなく、選べる候補が並ぶ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309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202996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右下ほど「混雑が少ない」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52360" y="226771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そのぶん来場者はよく歩く（f_move が大きい）。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314553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7452360" y="3081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左上ほど「歩かせない」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52360" y="33832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そのぶん一部が混む（f_congestion が大きい）。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4261104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7452360" y="41970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どの点も優劣がつかない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452360" y="44988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片方を良くすると必ずもう片方が悪化する＝これ以上同時には改善できない境界。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5349240"/>
            <a:ext cx="4370832" cy="658368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60920" y="53492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f_move 103.8〜111.8秒 ／ f_congestion 0.58〜0.72 の範囲で10案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数値は実行例（200人・400秒・個体数16・20世代）。本番用の実行結果に差し替えること。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端と真ん中の3案を比べると違いが見える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129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1168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11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best_movement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歩く負担 重視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103.8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96112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f_move（秒／人）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06040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6040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f_congestion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3730752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最短で回れるが、人気ブース周辺に人だまりができやすい。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70832" y="1783080"/>
            <a:ext cx="351129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201168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2011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239572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バランス案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26864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106.7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26864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f_move（秒／人）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36792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36792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f_congestion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26864" y="3730752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両方の指標が中庸。実運用の第一候補になりやすい。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01584" y="1783080"/>
            <a:ext cx="351129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57616" y="201168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357616" y="2011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best_congestion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57616" y="239572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混雑 重視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57616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111.8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357616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f_move（秒／人）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67544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0.583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10067544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f_congestion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57616" y="3730752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人だまりは最小。そのぶん来場者の移動時間は約8％増える。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892040"/>
            <a:ext cx="6949440" cy="1234440"/>
          </a:xfrm>
          <a:prstGeom prst="roundRect">
            <a:avLst>
              <a:gd name="adj" fmla="val 4444"/>
            </a:avLst>
          </a:prstGeom>
          <a:solidFill>
            <a:srgbClr val="F4F5F9"/>
          </a:solidFill>
          <a:ln w="15875">
            <a:solidFill>
              <a:srgbClr val="F96167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40080" y="50063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3案のレイアウト図 or 混雑ヒートマップを横並びで貼る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4635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runs/&lt;日時&gt;/ui_cache/layout_*.png、または visualize_solution.py の出力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18120" y="4892040"/>
            <a:ext cx="3730752" cy="1234440"/>
          </a:xfrm>
          <a:prstGeom prst="roundRect">
            <a:avLst>
              <a:gd name="adj" fmla="val 5926"/>
            </a:avLst>
          </a:prstGeom>
          <a:solidFill>
            <a:srgbClr val="F4F5F9"/>
          </a:solidFill>
          <a:ln w="12700">
            <a:solidFill>
              <a:srgbClr val="D8DB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4983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そのほかの実行例の指標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0100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体験成功率 約70％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平均待ち時間 23〜31秒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1案あたりの評価 約1秒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LIMITATIONS &amp;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まだ足りないところ、これから伸ばすところ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課題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9689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50545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実データでの検証がまだ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70432" y="2816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来場者の歩き方や滞在時間は仮定値。実際のイベントで人流を計測し、モデルを合わせ込む必要がある。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378561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6941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計算時間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70432" y="4005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1案の評価が約1秒。会場と来場者を増やすと世代を重ねるのに時間がかかる。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497433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88289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簡略化している挙動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70432" y="5193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行列への合流や同伴者・団体行動は簡略化。実際の動きとのずれが残る。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28232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展望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428232" y="228600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84264" y="2596896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6958584" y="250545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実イベントでの実証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958584" y="2816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提案配置を実際に使い、計測した混雑と予測を突き合わせて精度を確かめる。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28232" y="347472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84264" y="3785616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6958584" y="36941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評価軸を増やす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958584" y="4005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売上・滞在時間・安全（避難のしやすさ）など、主催者が本当に見たい指標を目的関数に追加。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28232" y="466344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DBE6"/>
            </a:solidFill>
            <a:prstDash val="solid"/>
          </a:ln>
          <a:effectLst>
            <a:outerShdw sx="100000" sy="100000" kx="0" ky="0" algn="bl" rotWithShape="0" blurRad="127000" dist="25400" dir="5400000">
              <a:srgbClr val="8A8FA3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84264" y="4974336"/>
            <a:ext cx="146304" cy="146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8" name="Text 26"/>
          <p:cNvSpPr/>
          <p:nvPr/>
        </p:nvSpPr>
        <p:spPr>
          <a:xfrm>
            <a:off x="6958584" y="488289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高速化と規模拡大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958584" y="5193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評価の並列化と近似モデルで、より大きな会場・長い時間帯を扱えるようにする。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16184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72216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28248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84280" y="48920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04120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60152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16184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72216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128248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384280" y="5148072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104120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60152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16184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872216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28248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384280" y="5404104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104120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360152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16184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872216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128248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384280" y="5660136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120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360152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16184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872216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128248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9E795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384280" y="5916168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61872" y="1947672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ブース配置は勘で決まっていた。本番前に試す手段がなかった。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40080" y="2752344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61872" y="2734056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来場者の歩行をシミュレーションし、「歩く負担」と「混雑」の2軸で自動探索する仕組みを作った。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640080" y="3538728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61872" y="352044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1つの答えではなく、選べる配置候補が並ぶ。主催者が方針で選べる。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640080" y="4325112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61872" y="4306824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ブラウザ画面から、専門知識なしで条件を変えて試せる。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640080" y="5440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ご清聴ありがとうございました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イベント会場ブース配置最適化</dc:title>
  <dc:subject>PptxGenJS Presentation</dc:subject>
  <dc:creator>Shin</dc:creator>
  <cp:lastModifiedBy>Shin</cp:lastModifiedBy>
  <cp:revision>1</cp:revision>
  <dcterms:created xsi:type="dcterms:W3CDTF">2026-08-11T05:58:00Z</dcterms:created>
  <dcterms:modified xsi:type="dcterms:W3CDTF">2026-08-11T05:58:00Z</dcterms:modified>
</cp:coreProperties>
</file>