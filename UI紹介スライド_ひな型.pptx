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【表紙 / 10秒】
・「最適化の中身ではなく、それを使うための画面の話をします」と一言。
※発表者名・日付を差し替える。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【約40秒】
・左を先に:「画面がなかったころは、コマンドを打って、出てくるのは数字の羅列でした。
  しかもその数字が良いのか悪いのか、直感的にはわからない」
・右へ:「そこで、ブラウザから設定して実行でき、結果を図で確かめられる画面を作りました」
・締め:「今日はとくに ② の可視化を中心にお見せします」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【約40秒】
・「画面はこの1枚です。大きく3つに分かれています」
・①左:「入力。会場の大きさ、ブースの一覧、来場者の人数」
・②上:「進捗。何世代目まで進んだかが自動で更新されます」
・③右:「結果。ここが今日の本題です」
※写真Aの上に ①②③ の丸を重ねて置くと分かりやすい（パワポで丸を移動するだけ）。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【約40秒】
・「使い方は3つだけです」と言い切る。
1)「条件を入れる。ブースは表になっているので、行を足したり消したりするだけ」
2)「開始を押す。あとは待つだけ。ブラウザを閉じても計算は続きます」
3)「終わったらグラフの点をクリック。その配置が図で出てきます」
・実演できるなら、ここで画面を見せながら1回操作するのが最も効果的。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【約40秒】
・「選んだ配置は、3つの見方で確かめられます」
A「レイアウト図。どこに何を置いたか。クリックすると即座に出ます」
B「混雑ヒートマップ。どこが混んだか」
C「アニメーション。どう混んだか。時間の流れが見えます」
・下の帯:「全部を自動で出すと画面が重くなるので、軽いものだけ自動、重いものはボタンにしています。
  一度作った図は保存されるので、2回目からはすぐ出ます」
※次の3ページで1つずつ見せる、と予告して次へ。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【約35秒】
・「まずレイアウト図。どこに何を置いたか、をそのまま描いたものです」
・「ブースの向きも矢印で出しています。お客さんが入る向きです」
・「行列がどこまで伸びるかも描いているので、通路をふさいでいないかが目で見てわかります」
・「これはクリックした瞬間に切り替わるので、候補を次々に見比べられます」
※写真は「配置がはっきり違う2案」を選ぶと、次の話につなげやすい。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【約35秒】
・「2つ目が混雑ヒートマップ。色が濃いところほど、人がそこに長く居たという意味です」
・「会場を1メートル四方のマスに区切って、そのマスに人が居た時間を積み上げています」
・「たいてい受付の前と人気ブースの前が濃くなります。それが通路や出入口にかかっていたら、
  その配置は当日危ない、と判断できます」
・締め:「混雑度という数字ひとつでは分からない "どこが" を、目で確認できるのが利点です」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【約35秒】
・「3つ目がアニメーション。点ひとつが来場者1人です」
・「色に意味があります。青は移動中、黄色は行列に並んでいる人、赤は前が詰まって進めない人」
・「ヒートマップは "結果として どこが混んだか" ですが、こちらは "どう混んでいったか"。
  詰まりがどこから始まるかまで見えます」
・「右側にブースごとの人数も出るので、いつどこに人が集まったかが並べて分かります」
※可能ならPowerPointにGIFをそのまま貼って再生する。静止画3コマでも可。
※時間が押していたら、このスライドは口頭だけで飛ばしてよい。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【約35秒】
左:「計算の途中も保存しているので、スライダで世代を戻せます。
  最初のほうは候補がばらばらですが、進むにつれて良い側に寄っていく。
  探索がちゃんと働いているのが目で見えます」
右:「もうひとつ、実行は全部ファイルとして残ります。
  ブラウザを閉じても計算は止まりませんし、後から同じ実行を開き直せます。
  入力した条件も一緒に保存されるので、"この結果はどの条件で出したか" が辿れます」
※この2つは主催者にとっては地味だが「後で見返せる」は実務上ありがたい点なので触れておく。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【約20秒】
・4点を読み上げず、「計算結果は数字だけでは判断できないので、それを見て確かめるための画面を作りました」
  で締める。
【質疑で来そうな質問】
Q「自分たちでも動かせるか」→ ブラウザとPythonが入っていれば動く。会場とブースを入れるだけ。
Q「計算にどのくらいかかるか」→ 条件次第。小さい設定なら数分、実会場サイズだと数十分〜。
   途中経過は見られるので、待ちながら確認できる。
Q「動画は保存できるか」→ GIFとして保存される。実行フォルダに残る。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88552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44584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00616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56648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12680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68712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24744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80776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36808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292840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732520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988552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244584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00616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756648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12680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268712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24744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0776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036808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732520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88552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244584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00616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756648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012680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268712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524744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780776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036808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292840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732520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988552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244584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500616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756648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12680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268712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524744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780776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036808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292840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732520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988552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244584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500616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756648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012680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268712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524744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780776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036808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292840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32520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88552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44584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500616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756648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012680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268712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524744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780776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1036808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292840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732520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988552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244584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500616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756648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012680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0268712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0524744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0780776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1036808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1292840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8732520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988552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244584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9500616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9756648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10012680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0268712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0524744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0780776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1036808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1292840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732520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988552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9244584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9500616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9756648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0012680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0268712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0524744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10780776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11036808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11292840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8732520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8988552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9244584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9500616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9756648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0012680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10268712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0524744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10780776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36808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11292840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8732520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8988552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9244584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9500616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9756648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10012680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10268712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10524744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10780776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11036808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11292840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8732520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8988552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9244584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9500616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9756648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0012680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10268712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10524744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10780776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11036808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11292840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8732520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8988552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9244584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9500616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9756648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10012680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10268712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10524744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10780776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11036808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11292840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8732520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8988552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9244584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9500616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9756648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10012680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10268712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10524744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10780776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11036808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11292840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8732520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8988552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9244584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9500616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9756648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10012680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10268712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10524744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10780776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11036808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11292840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7" name="Text 165"/>
          <p:cNvSpPr/>
          <p:nvPr/>
        </p:nvSpPr>
        <p:spPr>
          <a:xfrm>
            <a:off x="640080" y="2148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ブース配置最適化ツールの画面</a:t>
            </a:r>
            <a:endParaRPr lang="en-US" sz="4000" dirty="0"/>
          </a:p>
        </p:txBody>
      </p:sp>
      <p:sp>
        <p:nvSpPr>
          <p:cNvPr id="168" name="Text 166"/>
          <p:cNvSpPr/>
          <p:nvPr/>
        </p:nvSpPr>
        <p:spPr>
          <a:xfrm>
            <a:off x="640080" y="3154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計算結果を「見て・触って・確かめる」ための操作画面</a:t>
            </a:r>
            <a:endParaRPr lang="en-US" sz="1700" dirty="0"/>
          </a:p>
        </p:txBody>
      </p:sp>
      <p:sp>
        <p:nvSpPr>
          <p:cNvPr id="169" name="Text 167"/>
          <p:cNvSpPr/>
          <p:nvPr/>
        </p:nvSpPr>
        <p:spPr>
          <a:xfrm>
            <a:off x="64008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〈発表者名〉／〈所属〉　2026年◯月◯日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計算はできても、結果が「見えない」問題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画面がないと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320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61872" y="224028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コマンドを打たないと動かせない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9544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09544"/>
            <a:ext cx="320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61872" y="3209544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結果は数字の羅列で、良し悪しが直感的にわからない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178808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178808"/>
            <a:ext cx="320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61872" y="4178808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計算が終わるまで、途中で何が起きているか見えない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70448" y="3154680"/>
            <a:ext cx="457200" cy="45720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この画面で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519672" y="2240280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48272" y="2450592"/>
            <a:ext cx="420624" cy="42062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6748272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96912" y="2350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ブラウザから設定して実行できる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96912" y="266090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会場・ブース・来場者数を画面で入力。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19672" y="3209544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48272" y="3419856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748272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96912" y="3319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配置を図で確かめられる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96912" y="363016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レイアウト図・混雑ヒートマップ・動画の3通り。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19672" y="4178808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48272" y="4389120"/>
            <a:ext cx="420624" cy="42062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8" name="Text 26"/>
          <p:cNvSpPr/>
          <p:nvPr/>
        </p:nvSpPr>
        <p:spPr>
          <a:xfrm>
            <a:off x="6748272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96912" y="42885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途中の世代まで遡れる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96912" y="45994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計算中でも、そこまでの候補を見られる。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今日はこのうち ② の「配置を図で確かめる」を中心に紹介します。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画面は「入力」「進捗」「結果」の3つだけ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360920" cy="4160520"/>
          </a:xfrm>
          <a:prstGeom prst="roundRect">
            <a:avLst>
              <a:gd name="adj" fmla="val 1319"/>
            </a:avLst>
          </a:prstGeom>
          <a:solidFill>
            <a:srgbClr val="F4F5F9"/>
          </a:solidFill>
          <a:ln w="15875">
            <a:solidFill>
              <a:srgbClr val="F9616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3387852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写真A：画面全体（フルスクリーン）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817620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サイドバー・進捗バー・パレート図・結果タブが1枚に入るように撮影。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このあと ①②③ の吹き出しを図の上に置く想定。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75320" y="189280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23960" y="18745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左：入力エリア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823960" y="2203704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会場サイズ、ブースの一覧（表で行を追加・削除）、来場者数、計算の細かさを設定する。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75320" y="3264408"/>
            <a:ext cx="402336" cy="40233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23960" y="3246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上：進捗エリア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823960" y="3575304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「40 / 100 世代」のように、いま何番目の計算をしているかが2秒ごとに更新される。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463600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4636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4617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右：結果エリア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823960" y="4946904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候補の散らばりを示すグラフと、選んだ1案の図。ここが次のページからの主役。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操作は3ステップ、専門知識はいらない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11296" cy="41148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3108960" cy="1691640"/>
          </a:xfrm>
          <a:prstGeom prst="roundRect">
            <a:avLst>
              <a:gd name="adj" fmla="val 3243"/>
            </a:avLst>
          </a:prstGeom>
          <a:solidFill>
            <a:srgbClr val="F4F5F9"/>
          </a:solidFill>
          <a:ln w="15875">
            <a:solidFill>
              <a:srgbClr val="F9616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78408" y="23545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写真B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27843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サイドバーの拡大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3840480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9888" y="3895344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条件を入れる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440740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会場の大きさ、ブースの一覧、来場者の人数と時間を画面で設定。ブースは表なので行を足す・消すだけで数を変えられる。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0832" y="1783080"/>
            <a:ext cx="3511296" cy="41148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984248"/>
            <a:ext cx="3108960" cy="1691640"/>
          </a:xfrm>
          <a:prstGeom prst="roundRect">
            <a:avLst>
              <a:gd name="adj" fmla="val 3243"/>
            </a:avLst>
          </a:prstGeom>
          <a:solidFill>
            <a:srgbClr val="F4F5F9"/>
          </a:solidFill>
          <a:ln w="15875">
            <a:solidFill>
              <a:srgbClr val="F96167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709160" y="23545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写真C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843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実行中の進捗バー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3840480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895344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開始を押す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40740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「最適化を開始」を押すと計算が始まる。ブラウザを閉じても計算は止まらず、あとから同じ実行を開き直せる。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01584" y="1783080"/>
            <a:ext cx="3511296" cy="41148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02752" y="1984248"/>
            <a:ext cx="3108960" cy="1691640"/>
          </a:xfrm>
          <a:prstGeom prst="roundRect">
            <a:avLst>
              <a:gd name="adj" fmla="val 3243"/>
            </a:avLst>
          </a:prstGeom>
          <a:solidFill>
            <a:srgbClr val="F4F5F9"/>
          </a:solidFill>
          <a:ln w="15875">
            <a:solidFill>
              <a:srgbClr val="F9616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8439912" y="23545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写真D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85632" y="27843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点をクリックした直後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02752" y="3840480"/>
            <a:ext cx="420624" cy="42062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5" name="Text 23"/>
          <p:cNvSpPr/>
          <p:nvPr/>
        </p:nvSpPr>
        <p:spPr>
          <a:xfrm>
            <a:off x="8302752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51392" y="3895344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結果を選んで見る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02752" y="440740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グラフの点をクリックすると、その配置が図で表示される。気になる案を次々に見比べられる。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080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実演できる場でなら、この3枚を実際の画面操作に置き換えると一番伝わる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VIEWS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選んだ配置を、3通りの見方で確かめる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11296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2996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0848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レイアウト図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670048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どこに何を置いたか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310896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配置そのものを俯瞰する。クリックすると即座に表示。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40416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041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表示まで 即時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0832" y="1783080"/>
            <a:ext cx="3511296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202996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93792" y="20848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混雑ヒートマップ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26864" y="2670048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どこが混んだか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26864" y="310896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会場のどのあたりに人が溜まったかを色の濃さで示す。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40416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4041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表示まで 数秒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01584" y="1783080"/>
            <a:ext cx="3511296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20299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35761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924544" y="20848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来場者アニメーション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57616" y="2670048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どう混んだか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57616" y="310896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来場者が動く様子を再生。混雑が起きる過程が見える。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57616" y="40416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7616" y="4041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表示まで 数十秒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5056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軽いものは自動、重いものはボタン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60120" y="54132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9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レイアウト図は配置を描くだけなので即座に出る。ヒートマップと動画は来場者のシミュレーションを1回走らせる必要があるため、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9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見たいときにボタンで生成する形にした。一度作った図は保存され、2回目からはすぐ表示される。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VIEWS ─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レイアウト図：どこに何を置いたか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4114800"/>
          </a:xfrm>
          <a:prstGeom prst="roundRect">
            <a:avLst>
              <a:gd name="adj" fmla="val 1333"/>
            </a:avLst>
          </a:prstGeom>
          <a:solidFill>
            <a:srgbClr val="F4F5F9"/>
          </a:solidFill>
          <a:ln w="15875">
            <a:solidFill>
              <a:srgbClr val="F9616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336499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写真E：レイアウト図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runs/&lt;日時&gt;/ui_cache/layout_*.png、または画面のタブ1をそのまま撮影。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ブースの色分けと向き矢印が読める大きさで。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71232" y="1947672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ブースの位置と向き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0" y="2203704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各ブースが会場のどこに、どちらを向いて置かれるか。矢印が客の入る向き。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71232" y="32461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3172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待機列の伸び方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0" y="350215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行列がどのマスを占めるかまで描いている。通路をふさいでいないかが見てわかる。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71232" y="454456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44714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入口・出口との関係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0" y="48006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入ってきた人が最初にどこへ向かうかを想像しながら見られる。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71232" y="553212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5532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クリックした瞬間に切り替わる。案を次々に見比べられる。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VIEWS ─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混雑ヒートマップ：どこが混んだか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4114800"/>
          </a:xfrm>
          <a:prstGeom prst="roundRect">
            <a:avLst>
              <a:gd name="adj" fmla="val 1333"/>
            </a:avLst>
          </a:prstGeom>
          <a:solidFill>
            <a:srgbClr val="F4F5F9"/>
          </a:solidFill>
          <a:ln w="15875">
            <a:solidFill>
              <a:srgbClr val="F9616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336499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写真F：混雑ヒートマップ（2枚組）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「累積滞在」と「閾値超過」の2枚が並んだ状態を撮影。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色の凡例が読める大きさで。KPI表も一緒に写ると良い。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71232" y="1947672"/>
            <a:ext cx="146304" cy="146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色が濃いほど人が滞留した場所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203704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会場を1メートル四方に区切り、そこに人が居た時間を積み上げて色にしている。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71232" y="3246120"/>
            <a:ext cx="146304" cy="146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3172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受付前・人気ブース前が濃くなる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863840" y="350215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濃い場所が通路や出入口にかかっていれば、その配置は危ない。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71232" y="4544568"/>
            <a:ext cx="146304" cy="146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44714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数字も同時に出る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863840" y="48006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体験できた人の割合、平均の待ち時間なども表で表示される。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71232" y="553212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5532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「混雑度」という1つの数字の中身を、目で確認できる。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VIEWS ─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来場者アニメーション：どう混んだか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4114800"/>
          </a:xfrm>
          <a:prstGeom prst="roundRect">
            <a:avLst>
              <a:gd name="adj" fmla="val 1333"/>
            </a:avLst>
          </a:prstGeom>
          <a:solidFill>
            <a:srgbClr val="F4F5F9"/>
          </a:solidFill>
          <a:ln w="15875">
            <a:solidFill>
              <a:srgbClr val="F9616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336499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写真G：アニメーションのコマ（できれば2〜3コマ並べる）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runs/&lt;日時&gt;/ui_cache/anim_*.gif から、序盤・混雑ピーク・終盤の3コマを切り出すと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「時間で変わる」ことが1枚で伝わる。発表時はGIFをそのまま貼ってもよい。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71232" y="19476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点の色で状態がわかる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203704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青＝移動中、黄＝行列に並んでいる、赤＝人に阻まれて進めない。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71232" y="32461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3172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混雑が生まれる瞬間が見える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863840" y="350215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静止画では分からない「詰まりはじめ」がどこから起きるかを追える。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71232" y="454456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44714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ブースごとの人数も同時表示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863840" y="48006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どのブースにいつ人が集まったかがグラフで並走する。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71232" y="553212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5532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発表で一番反応が返ってくるのはこの画面。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計算の途中も、終わったあとも見返せる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世代スライダ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2487168"/>
            <a:ext cx="4709160" cy="1737360"/>
          </a:xfrm>
          <a:prstGeom prst="roundRect">
            <a:avLst>
              <a:gd name="adj" fmla="val 3158"/>
            </a:avLst>
          </a:prstGeom>
          <a:solidFill>
            <a:srgbClr val="F4F5F9"/>
          </a:solidFill>
          <a:ln w="15875">
            <a:solidFill>
              <a:srgbClr val="F9616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97280" y="288036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写真H：世代スライダとパレート図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31012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スライダに複数の世代が並んだ状態。可能なら初期世代と最終世代の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パレート図を2枚並べる（点の広がりが違うのが見える）。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440740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計算の途中経過が一定間隔で保存されるので、スライダで世代を戻せる。初期の世代は候補がばらけていて、世代が進むほど良い側に寄っていく——探索が進んでいる様子がそのまま見える。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28232" y="178308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48272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実行はファイルで残る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48272" y="2551176"/>
            <a:ext cx="402336" cy="40233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6748272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96912" y="2514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ブラウザを閉じても計算は続く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96912" y="284378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計算は画面とは別に動いているため、閉じても止まらない。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48272" y="3666744"/>
            <a:ext cx="402336" cy="40233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6748272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96912" y="3630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あとから同じ実行を開き直せる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96912" y="39593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実行ごとに日時のフォルダができ、プルダウンで選べる。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48272" y="4782312"/>
            <a:ext cx="402336" cy="40233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748272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96912" y="4745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入力した条件も一緒に保存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96912" y="50749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「この結果はどの条件で出したか」が後から辿れる。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60152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16184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72216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28248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84280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04120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60152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16184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72216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128248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384280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104120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60152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16184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872216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128248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384280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104120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360152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16184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872216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128248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384280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04120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360152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16184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872216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128248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384280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33" name="Shape 31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61872" y="1947672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コマンドを打たずに、ブラウザから条件を入れて実行できる。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0080" y="2752344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61872" y="2734056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選んだ配置を レイアウト図・混雑ヒートマップ・アニメーション の3通りで確かめられる。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0080" y="3538728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61872" y="3520440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計算の途中の世代まで遡れる。実行は残るので後から見返せる。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40080" y="4325112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261872" y="4306824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「数字だけでは判断できない」を埋めるための画面。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40080" y="5440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ご清聴ありがとうございました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ブース配置最適化 UI の紹介</dc:title>
  <dc:subject>PptxGenJS Presentation</dc:subject>
  <dc:creator>Shin</dc:creator>
  <cp:lastModifiedBy>Shin</cp:lastModifiedBy>
  <cp:revision>1</cp:revision>
  <dcterms:created xsi:type="dcterms:W3CDTF">2026-08-11T06:42:40Z</dcterms:created>
  <dcterms:modified xsi:type="dcterms:W3CDTF">2026-08-11T06:42:40Z</dcterms:modified>
</cp:coreProperties>
</file>